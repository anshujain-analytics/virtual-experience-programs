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235" autoAdjust="0"/>
  </p:normalViewPr>
  <p:slideViewPr>
    <p:cSldViewPr snapToGrid="0" snapToObjects="1">
      <p:cViewPr varScale="1">
        <p:scale>
          <a:sx n="73" d="100"/>
          <a:sy n="73" d="100"/>
        </p:scale>
        <p:origin x="173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9E004-F050-4B82-A6AF-B508D0FA2193}" type="datetimeFigureOut">
              <a:rPr lang="en-IN" smtClean="0"/>
              <a:t>27-06-2026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1D4AA6-9B30-4002-9798-6E768D2AB628}" type="slidenum">
              <a:rPr lang="en-IN" smtClean="0"/>
              <a:t>‹#›</a:t>
            </a:fld>
            <a:endParaRPr lang="en-IN"/>
          </a:p>
        </p:txBody>
      </p:sp>
    </p:spTree>
    <p:extLst>
      <p:ext uri="{BB962C8B-B14F-4D97-AF65-F5344CB8AC3E}">
        <p14:creationId xmlns:p14="http://schemas.microsoft.com/office/powerpoint/2010/main" val="737592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solidFill>
                  <a:srgbClr val="FF0000"/>
                </a:solidFill>
              </a:rPr>
              <a:t>Explanation: Slide alignment, font, and colors match Tata’s Style Guide. The slide title addresses where in the PowerPoint this slide should be (towards the end). All Tata Sustainability and Technology solutions are mapped out in relation to the 5 biggest sustainability challenges faced by DUU. There is no need to explore these solutions in depth because we can assume this has been or will be done on other slides: this slide focuses on the matrix and the solutions. </a:t>
            </a:r>
          </a:p>
          <a:p>
            <a:endParaRPr lang="en-IN" dirty="0"/>
          </a:p>
        </p:txBody>
      </p:sp>
      <p:sp>
        <p:nvSpPr>
          <p:cNvPr id="4" name="Slide Number Placeholder 3"/>
          <p:cNvSpPr>
            <a:spLocks noGrp="1"/>
          </p:cNvSpPr>
          <p:nvPr>
            <p:ph type="sldNum" sz="quarter" idx="5"/>
          </p:nvPr>
        </p:nvSpPr>
        <p:spPr/>
        <p:txBody>
          <a:bodyPr/>
          <a:lstStyle/>
          <a:p>
            <a:fld id="{BC1D4AA6-9B30-4002-9798-6E768D2AB628}" type="slidenum">
              <a:rPr lang="en-IN" smtClean="0"/>
              <a:t>1</a:t>
            </a:fld>
            <a:endParaRPr lang="en-IN"/>
          </a:p>
        </p:txBody>
      </p:sp>
    </p:spTree>
    <p:extLst>
      <p:ext uri="{BB962C8B-B14F-4D97-AF65-F5344CB8AC3E}">
        <p14:creationId xmlns:p14="http://schemas.microsoft.com/office/powerpoint/2010/main" val="2257902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64" y="700338"/>
            <a:ext cx="8959271" cy="4682777"/>
          </a:xfrm>
        </p:spPr>
        <p:txBody>
          <a:bodyPr/>
          <a:lstStyle/>
          <a:p>
            <a:endParaRPr dirty="0"/>
          </a:p>
        </p:txBody>
      </p:sp>
      <p:sp>
        <p:nvSpPr>
          <p:cNvPr id="3" name="TextBox 2"/>
          <p:cNvSpPr txBox="1"/>
          <p:nvPr/>
        </p:nvSpPr>
        <p:spPr>
          <a:xfrm>
            <a:off x="0" y="-39707"/>
            <a:ext cx="7063991" cy="984885"/>
          </a:xfrm>
          <a:prstGeom prst="rect">
            <a:avLst/>
          </a:prstGeom>
          <a:noFill/>
        </p:spPr>
        <p:txBody>
          <a:bodyPr wrap="square">
            <a:spAutoFit/>
          </a:bodyPr>
          <a:lstStyle/>
          <a:p>
            <a:pPr>
              <a:defRPr sz="2200" b="1">
                <a:solidFill>
                  <a:srgbClr val="0066CC"/>
                </a:solidFill>
              </a:defRPr>
            </a:pPr>
            <a:r>
              <a:rPr dirty="0"/>
              <a:t>DUU Proposition: Tata Sustainability Solutions</a:t>
            </a:r>
            <a:br>
              <a:rPr lang="en-IN" dirty="0"/>
            </a:br>
            <a:r>
              <a:rPr lang="en-US" sz="1400" dirty="0"/>
              <a:t>Fitment Matrix: Aligning TCS Sustainability Solutions to DUU's Key Challenges</a:t>
            </a:r>
          </a:p>
          <a:p>
            <a:pPr>
              <a:defRPr sz="2200" b="1">
                <a:solidFill>
                  <a:srgbClr val="0066CC"/>
                </a:solidFill>
              </a:defRPr>
            </a:pPr>
            <a:endParaRPr dirty="0"/>
          </a:p>
        </p:txBody>
      </p:sp>
      <p:sp>
        <p:nvSpPr>
          <p:cNvPr id="6" name="TextBox 5"/>
          <p:cNvSpPr txBox="1"/>
          <p:nvPr/>
        </p:nvSpPr>
        <p:spPr>
          <a:xfrm>
            <a:off x="252712" y="5917306"/>
            <a:ext cx="7209972" cy="830997"/>
          </a:xfrm>
          <a:prstGeom prst="rect">
            <a:avLst/>
          </a:prstGeom>
          <a:noFill/>
        </p:spPr>
        <p:txBody>
          <a:bodyPr wrap="square">
            <a:spAutoFit/>
          </a:bodyPr>
          <a:lstStyle/>
          <a:p>
            <a:pPr>
              <a:defRPr b="1">
                <a:solidFill>
                  <a:srgbClr val="E0007A"/>
                </a:solidFill>
              </a:defRPr>
            </a:pPr>
            <a:r>
              <a:rPr sz="1200" dirty="0"/>
              <a:t>Key Recommendations</a:t>
            </a:r>
          </a:p>
          <a:p>
            <a:r>
              <a:rPr sz="1200" dirty="0"/>
              <a:t>• Deploy TCS Zero Carbon Platform to accelerate DUU's Net Zero and carbon reporting journey.</a:t>
            </a:r>
          </a:p>
          <a:p>
            <a:r>
              <a:rPr sz="1200" dirty="0"/>
              <a:t>• Implement ESG Integration Solution to strengthen governance, compliance and sustainability reporting.</a:t>
            </a:r>
          </a:p>
          <a:p>
            <a:r>
              <a:rPr sz="1200" dirty="0"/>
              <a:t>• Combined solution addresses DUU's highest-priority challenges: emissions, energy efficiency and resilience.</a:t>
            </a:r>
          </a:p>
        </p:txBody>
      </p:sp>
      <p:sp>
        <p:nvSpPr>
          <p:cNvPr id="7" name="TextBox 6"/>
          <p:cNvSpPr txBox="1"/>
          <p:nvPr/>
        </p:nvSpPr>
        <p:spPr>
          <a:xfrm>
            <a:off x="172538" y="5486419"/>
            <a:ext cx="8798922" cy="430887"/>
          </a:xfrm>
          <a:prstGeom prst="rect">
            <a:avLst/>
          </a:prstGeom>
          <a:noFill/>
        </p:spPr>
        <p:txBody>
          <a:bodyPr wrap="square">
            <a:spAutoFit/>
          </a:bodyPr>
          <a:lstStyle/>
          <a:p>
            <a:r>
              <a:rPr sz="1100" dirty="0"/>
              <a:t>Value Proposition</a:t>
            </a:r>
          </a:p>
          <a:p>
            <a:r>
              <a:rPr sz="1100" dirty="0"/>
              <a:t>Data-driven sustainability platform enabling measurable ESG performance, regulatory compliance and long-term environmental impact.</a:t>
            </a:r>
          </a:p>
        </p:txBody>
      </p:sp>
      <p:graphicFrame>
        <p:nvGraphicFramePr>
          <p:cNvPr id="11" name="Table 10">
            <a:extLst>
              <a:ext uri="{FF2B5EF4-FFF2-40B4-BE49-F238E27FC236}">
                <a16:creationId xmlns:a16="http://schemas.microsoft.com/office/drawing/2014/main" id="{9D42AC99-D9A5-6D8A-CB1B-3D4865CE350D}"/>
              </a:ext>
            </a:extLst>
          </p:cNvPr>
          <p:cNvGraphicFramePr>
            <a:graphicFrameLocks noGrp="1"/>
          </p:cNvGraphicFramePr>
          <p:nvPr>
            <p:extLst>
              <p:ext uri="{D42A27DB-BD31-4B8C-83A1-F6EECF244321}">
                <p14:modId xmlns:p14="http://schemas.microsoft.com/office/powerpoint/2010/main" val="1883726299"/>
              </p:ext>
            </p:extLst>
          </p:nvPr>
        </p:nvGraphicFramePr>
        <p:xfrm>
          <a:off x="92364" y="711451"/>
          <a:ext cx="8798922" cy="4671664"/>
        </p:xfrm>
        <a:graphic>
          <a:graphicData uri="http://schemas.openxmlformats.org/drawingml/2006/table">
            <a:tbl>
              <a:tblPr firstRow="1" bandRow="1">
                <a:tableStyleId>{5C22544A-7EE6-4342-B048-85BDC9FD1C3A}</a:tableStyleId>
              </a:tblPr>
              <a:tblGrid>
                <a:gridCol w="1466487">
                  <a:extLst>
                    <a:ext uri="{9D8B030D-6E8A-4147-A177-3AD203B41FA5}">
                      <a16:colId xmlns:a16="http://schemas.microsoft.com/office/drawing/2014/main" val="20000"/>
                    </a:ext>
                  </a:extLst>
                </a:gridCol>
                <a:gridCol w="1466487">
                  <a:extLst>
                    <a:ext uri="{9D8B030D-6E8A-4147-A177-3AD203B41FA5}">
                      <a16:colId xmlns:a16="http://schemas.microsoft.com/office/drawing/2014/main" val="20001"/>
                    </a:ext>
                  </a:extLst>
                </a:gridCol>
                <a:gridCol w="1466487">
                  <a:extLst>
                    <a:ext uri="{9D8B030D-6E8A-4147-A177-3AD203B41FA5}">
                      <a16:colId xmlns:a16="http://schemas.microsoft.com/office/drawing/2014/main" val="20002"/>
                    </a:ext>
                  </a:extLst>
                </a:gridCol>
                <a:gridCol w="1466487">
                  <a:extLst>
                    <a:ext uri="{9D8B030D-6E8A-4147-A177-3AD203B41FA5}">
                      <a16:colId xmlns:a16="http://schemas.microsoft.com/office/drawing/2014/main" val="20003"/>
                    </a:ext>
                  </a:extLst>
                </a:gridCol>
                <a:gridCol w="1466487">
                  <a:extLst>
                    <a:ext uri="{9D8B030D-6E8A-4147-A177-3AD203B41FA5}">
                      <a16:colId xmlns:a16="http://schemas.microsoft.com/office/drawing/2014/main" val="20004"/>
                    </a:ext>
                  </a:extLst>
                </a:gridCol>
                <a:gridCol w="1466487">
                  <a:extLst>
                    <a:ext uri="{9D8B030D-6E8A-4147-A177-3AD203B41FA5}">
                      <a16:colId xmlns:a16="http://schemas.microsoft.com/office/drawing/2014/main" val="20005"/>
                    </a:ext>
                  </a:extLst>
                </a:gridCol>
              </a:tblGrid>
              <a:tr h="709711">
                <a:tc>
                  <a:txBody>
                    <a:bodyPr/>
                    <a:lstStyle/>
                    <a:p>
                      <a:r>
                        <a:rPr dirty="0"/>
                        <a:t>Solutions / Challenges</a:t>
                      </a:r>
                    </a:p>
                  </a:txBody>
                  <a:tcPr>
                    <a:solidFill>
                      <a:srgbClr val="0066CC"/>
                    </a:solidFill>
                  </a:tcPr>
                </a:tc>
                <a:tc>
                  <a:txBody>
                    <a:bodyPr/>
                    <a:lstStyle/>
                    <a:p>
                      <a:r>
                        <a:t>Sustainable</a:t>
                      </a:r>
                    </a:p>
                    <a:p>
                      <a:r>
                        <a:t>Buildings</a:t>
                      </a:r>
                    </a:p>
                  </a:txBody>
                  <a:tcPr>
                    <a:solidFill>
                      <a:srgbClr val="0066CC"/>
                    </a:solidFill>
                  </a:tcPr>
                </a:tc>
                <a:tc>
                  <a:txBody>
                    <a:bodyPr/>
                    <a:lstStyle/>
                    <a:p>
                      <a:r>
                        <a:t>Climate</a:t>
                      </a:r>
                    </a:p>
                    <a:p>
                      <a:r>
                        <a:t>Resilience</a:t>
                      </a:r>
                    </a:p>
                  </a:txBody>
                  <a:tcPr>
                    <a:solidFill>
                      <a:srgbClr val="0066CC"/>
                    </a:solidFill>
                  </a:tcPr>
                </a:tc>
                <a:tc>
                  <a:txBody>
                    <a:bodyPr/>
                    <a:lstStyle/>
                    <a:p>
                      <a:r>
                        <a:t>Emissions &amp;</a:t>
                      </a:r>
                    </a:p>
                    <a:p>
                      <a:r>
                        <a:t>Carbon Neutrality</a:t>
                      </a:r>
                    </a:p>
                  </a:txBody>
                  <a:tcPr>
                    <a:solidFill>
                      <a:srgbClr val="0066CC"/>
                    </a:solidFill>
                  </a:tcPr>
                </a:tc>
                <a:tc>
                  <a:txBody>
                    <a:bodyPr/>
                    <a:lstStyle/>
                    <a:p>
                      <a:r>
                        <a:rPr dirty="0"/>
                        <a:t>Energy</a:t>
                      </a:r>
                    </a:p>
                    <a:p>
                      <a:r>
                        <a:rPr dirty="0"/>
                        <a:t>Consumption</a:t>
                      </a:r>
                    </a:p>
                  </a:txBody>
                  <a:tcPr>
                    <a:solidFill>
                      <a:srgbClr val="0066CC"/>
                    </a:solidFill>
                  </a:tcPr>
                </a:tc>
                <a:tc>
                  <a:txBody>
                    <a:bodyPr/>
                    <a:lstStyle/>
                    <a:p>
                      <a:r>
                        <a:rPr dirty="0"/>
                        <a:t>Water</a:t>
                      </a:r>
                    </a:p>
                    <a:p>
                      <a:r>
                        <a:rPr dirty="0"/>
                        <a:t>Consumption</a:t>
                      </a:r>
                    </a:p>
                  </a:txBody>
                  <a:tcPr>
                    <a:solidFill>
                      <a:srgbClr val="0066CC"/>
                    </a:solidFill>
                  </a:tcPr>
                </a:tc>
                <a:extLst>
                  <a:ext uri="{0D108BD9-81ED-4DB2-BD59-A6C34878D82A}">
                    <a16:rowId xmlns:a16="http://schemas.microsoft.com/office/drawing/2014/main" val="10000"/>
                  </a:ext>
                </a:extLst>
              </a:tr>
              <a:tr h="709711">
                <a:tc>
                  <a:txBody>
                    <a:bodyPr/>
                    <a:lstStyle/>
                    <a:p>
                      <a:r>
                        <a:t>TCS Zero Carbon Platform</a:t>
                      </a:r>
                    </a:p>
                  </a:txBody>
                  <a:tcPr>
                    <a:solidFill>
                      <a:srgbClr val="F2F2F2"/>
                    </a:solidFill>
                  </a:tcPr>
                </a:tc>
                <a:tc>
                  <a:txBody>
                    <a:bodyPr/>
                    <a:lstStyle/>
                    <a:p>
                      <a:endParaRPr/>
                    </a:p>
                  </a:txBody>
                  <a:tcPr/>
                </a:tc>
                <a:tc>
                  <a:txBody>
                    <a:bodyPr/>
                    <a:lstStyle/>
                    <a:p>
                      <a:endParaRPr/>
                    </a:p>
                  </a:txBody>
                  <a:tcPr/>
                </a:tc>
                <a:tc>
                  <a:txBody>
                    <a:bodyPr/>
                    <a:lstStyle/>
                    <a:p>
                      <a:r>
                        <a:t>✓</a:t>
                      </a:r>
                    </a:p>
                  </a:txBody>
                  <a:tcPr>
                    <a:solidFill>
                      <a:srgbClr val="C6EFCE"/>
                    </a:solidFill>
                  </a:tcPr>
                </a:tc>
                <a:tc>
                  <a:txBody>
                    <a:bodyPr/>
                    <a:lstStyle/>
                    <a:p>
                      <a:r>
                        <a:t>✓</a:t>
                      </a:r>
                    </a:p>
                  </a:txBody>
                  <a:tcPr>
                    <a:solidFill>
                      <a:srgbClr val="C6EFCE"/>
                    </a:solidFill>
                  </a:tcPr>
                </a:tc>
                <a:tc>
                  <a:txBody>
                    <a:bodyPr/>
                    <a:lstStyle/>
                    <a:p>
                      <a:endParaRPr/>
                    </a:p>
                  </a:txBody>
                  <a:tcPr/>
                </a:tc>
                <a:extLst>
                  <a:ext uri="{0D108BD9-81ED-4DB2-BD59-A6C34878D82A}">
                    <a16:rowId xmlns:a16="http://schemas.microsoft.com/office/drawing/2014/main" val="10001"/>
                  </a:ext>
                </a:extLst>
              </a:tr>
              <a:tr h="922624">
                <a:tc>
                  <a:txBody>
                    <a:bodyPr/>
                    <a:lstStyle/>
                    <a:p>
                      <a:r>
                        <a:t>TCS iON Energy Management</a:t>
                      </a:r>
                    </a:p>
                  </a:txBody>
                  <a:tcPr>
                    <a:solidFill>
                      <a:srgbClr val="F2F2F2"/>
                    </a:solidFill>
                  </a:tcPr>
                </a:tc>
                <a:tc>
                  <a:txBody>
                    <a:bodyPr/>
                    <a:lstStyle/>
                    <a:p>
                      <a:r>
                        <a:t>✓</a:t>
                      </a:r>
                    </a:p>
                  </a:txBody>
                  <a:tcPr>
                    <a:solidFill>
                      <a:srgbClr val="C6EFCE"/>
                    </a:solidFill>
                  </a:tcPr>
                </a:tc>
                <a:tc>
                  <a:txBody>
                    <a:bodyPr/>
                    <a:lstStyle/>
                    <a:p>
                      <a:endParaRPr/>
                    </a:p>
                  </a:txBody>
                  <a:tcPr/>
                </a:tc>
                <a:tc>
                  <a:txBody>
                    <a:bodyPr/>
                    <a:lstStyle/>
                    <a:p>
                      <a:endParaRPr/>
                    </a:p>
                  </a:txBody>
                  <a:tcPr/>
                </a:tc>
                <a:tc>
                  <a:txBody>
                    <a:bodyPr/>
                    <a:lstStyle/>
                    <a:p>
                      <a:r>
                        <a:rPr dirty="0"/>
                        <a:t>✓</a:t>
                      </a:r>
                    </a:p>
                  </a:txBody>
                  <a:tcPr>
                    <a:solidFill>
                      <a:srgbClr val="C6EFCE"/>
                    </a:solidFill>
                  </a:tcPr>
                </a:tc>
                <a:tc>
                  <a:txBody>
                    <a:bodyPr/>
                    <a:lstStyle/>
                    <a:p>
                      <a:r>
                        <a:t>✓</a:t>
                      </a:r>
                    </a:p>
                  </a:txBody>
                  <a:tcPr>
                    <a:solidFill>
                      <a:srgbClr val="C6EFCE"/>
                    </a:solidFill>
                  </a:tcPr>
                </a:tc>
                <a:extLst>
                  <a:ext uri="{0D108BD9-81ED-4DB2-BD59-A6C34878D82A}">
                    <a16:rowId xmlns:a16="http://schemas.microsoft.com/office/drawing/2014/main" val="10002"/>
                  </a:ext>
                </a:extLst>
              </a:tr>
              <a:tr h="709711">
                <a:tc>
                  <a:txBody>
                    <a:bodyPr/>
                    <a:lstStyle/>
                    <a:p>
                      <a:r>
                        <a:t>ESG Integration Solution</a:t>
                      </a:r>
                    </a:p>
                  </a:txBody>
                  <a:tcPr>
                    <a:solidFill>
                      <a:srgbClr val="F2F2F2"/>
                    </a:solidFill>
                  </a:tcPr>
                </a:tc>
                <a:tc>
                  <a:txBody>
                    <a:bodyPr/>
                    <a:lstStyle/>
                    <a:p>
                      <a:endParaRPr dirty="0"/>
                    </a:p>
                  </a:txBody>
                  <a:tcPr/>
                </a:tc>
                <a:tc>
                  <a:txBody>
                    <a:bodyPr/>
                    <a:lstStyle/>
                    <a:p>
                      <a:r>
                        <a:rPr dirty="0"/>
                        <a:t>✓</a:t>
                      </a:r>
                    </a:p>
                  </a:txBody>
                  <a:tcPr>
                    <a:solidFill>
                      <a:srgbClr val="C6EFCE"/>
                    </a:solidFill>
                  </a:tcPr>
                </a:tc>
                <a:tc>
                  <a:txBody>
                    <a:bodyPr/>
                    <a:lstStyle/>
                    <a:p>
                      <a:r>
                        <a:t>✓</a:t>
                      </a:r>
                    </a:p>
                  </a:txBody>
                  <a:tcPr>
                    <a:solidFill>
                      <a:srgbClr val="C6EFCE"/>
                    </a:solidFill>
                  </a:tcPr>
                </a:tc>
                <a:tc>
                  <a:txBody>
                    <a:bodyPr/>
                    <a:lstStyle/>
                    <a:p>
                      <a:endParaRPr/>
                    </a:p>
                  </a:txBody>
                  <a:tcPr/>
                </a:tc>
                <a:tc>
                  <a:txBody>
                    <a:bodyPr/>
                    <a:lstStyle/>
                    <a:p>
                      <a:r>
                        <a:rPr dirty="0"/>
                        <a:t>✓</a:t>
                      </a:r>
                    </a:p>
                  </a:txBody>
                  <a:tcPr>
                    <a:solidFill>
                      <a:srgbClr val="C6EFCE"/>
                    </a:solidFill>
                  </a:tcPr>
                </a:tc>
                <a:extLst>
                  <a:ext uri="{0D108BD9-81ED-4DB2-BD59-A6C34878D82A}">
                    <a16:rowId xmlns:a16="http://schemas.microsoft.com/office/drawing/2014/main" val="10003"/>
                  </a:ext>
                </a:extLst>
              </a:tr>
              <a:tr h="283884">
                <a:tc>
                  <a:txBody>
                    <a:bodyPr/>
                    <a:lstStyle/>
                    <a:p>
                      <a:r>
                        <a:t>Circle4Life</a:t>
                      </a:r>
                    </a:p>
                  </a:txBody>
                  <a:tcPr>
                    <a:solidFill>
                      <a:srgbClr val="F2F2F2"/>
                    </a:solidFill>
                  </a:tcPr>
                </a:tc>
                <a:tc>
                  <a:txBody>
                    <a:bodyPr/>
                    <a:lstStyle/>
                    <a:p>
                      <a:endParaRPr/>
                    </a:p>
                  </a:txBody>
                  <a:tcPr/>
                </a:tc>
                <a:tc>
                  <a:txBody>
                    <a:bodyPr/>
                    <a:lstStyle/>
                    <a:p>
                      <a:r>
                        <a:t>✓</a:t>
                      </a:r>
                    </a:p>
                  </a:txBody>
                  <a:tcPr>
                    <a:solidFill>
                      <a:srgbClr val="C6EFCE"/>
                    </a:solidFill>
                  </a:tcPr>
                </a:tc>
                <a:tc>
                  <a:txBody>
                    <a:bodyPr/>
                    <a:lstStyle/>
                    <a:p>
                      <a:endParaRPr/>
                    </a:p>
                  </a:txBody>
                  <a:tcPr/>
                </a:tc>
                <a:tc>
                  <a:txBody>
                    <a:bodyPr/>
                    <a:lstStyle/>
                    <a:p>
                      <a:endParaRPr/>
                    </a:p>
                  </a:txBody>
                  <a:tcPr/>
                </a:tc>
                <a:tc>
                  <a:txBody>
                    <a:bodyPr/>
                    <a:lstStyle/>
                    <a:p>
                      <a:endParaRPr dirty="0"/>
                    </a:p>
                  </a:txBody>
                  <a:tcPr/>
                </a:tc>
                <a:extLst>
                  <a:ext uri="{0D108BD9-81ED-4DB2-BD59-A6C34878D82A}">
                    <a16:rowId xmlns:a16="http://schemas.microsoft.com/office/drawing/2014/main" val="10004"/>
                  </a:ext>
                </a:extLst>
              </a:tr>
              <a:tr h="496798">
                <a:tc>
                  <a:txBody>
                    <a:bodyPr/>
                    <a:lstStyle/>
                    <a:p>
                      <a:r>
                        <a:t>Sustainability Consulting</a:t>
                      </a:r>
                    </a:p>
                  </a:txBody>
                  <a:tcPr>
                    <a:solidFill>
                      <a:srgbClr val="F2F2F2"/>
                    </a:solidFill>
                  </a:tcPr>
                </a:tc>
                <a:tc>
                  <a:txBody>
                    <a:bodyPr/>
                    <a:lstStyle/>
                    <a:p>
                      <a:r>
                        <a:t>✓</a:t>
                      </a:r>
                    </a:p>
                  </a:txBody>
                  <a:tcPr>
                    <a:solidFill>
                      <a:srgbClr val="C6EFCE"/>
                    </a:solidFill>
                  </a:tcPr>
                </a:tc>
                <a:tc>
                  <a:txBody>
                    <a:bodyPr/>
                    <a:lstStyle/>
                    <a:p>
                      <a:r>
                        <a:t>✓</a:t>
                      </a:r>
                    </a:p>
                  </a:txBody>
                  <a:tcPr>
                    <a:solidFill>
                      <a:srgbClr val="C6EFCE"/>
                    </a:solidFill>
                  </a:tcPr>
                </a:tc>
                <a:tc>
                  <a:txBody>
                    <a:bodyPr/>
                    <a:lstStyle/>
                    <a:p>
                      <a:r>
                        <a:t>✓</a:t>
                      </a:r>
                    </a:p>
                  </a:txBody>
                  <a:tcPr>
                    <a:solidFill>
                      <a:srgbClr val="C6EFCE"/>
                    </a:solidFill>
                  </a:tcPr>
                </a:tc>
                <a:tc>
                  <a:txBody>
                    <a:bodyPr/>
                    <a:lstStyle/>
                    <a:p>
                      <a:r>
                        <a:rPr dirty="0"/>
                        <a:t>✓</a:t>
                      </a:r>
                    </a:p>
                  </a:txBody>
                  <a:tcPr>
                    <a:solidFill>
                      <a:srgbClr val="C6EFCE"/>
                    </a:solidFill>
                  </a:tcPr>
                </a:tc>
                <a:tc>
                  <a:txBody>
                    <a:bodyPr/>
                    <a:lstStyle/>
                    <a:p>
                      <a:r>
                        <a:rPr dirty="0"/>
                        <a:t>✓</a:t>
                      </a:r>
                    </a:p>
                  </a:txBody>
                  <a:tcPr>
                    <a:solidFill>
                      <a:srgbClr val="C6EFCE"/>
                    </a:solidFill>
                  </a:tcPr>
                </a:tc>
                <a:extLst>
                  <a:ext uri="{0D108BD9-81ED-4DB2-BD59-A6C34878D82A}">
                    <a16:rowId xmlns:a16="http://schemas.microsoft.com/office/drawing/2014/main" val="10005"/>
                  </a:ext>
                </a:extLst>
              </a:tr>
            </a:tbl>
          </a:graphicData>
        </a:graphic>
      </p:graphicFrame>
      <p:sp>
        <p:nvSpPr>
          <p:cNvPr id="12" name="Google Shape;1745;p36">
            <a:extLst>
              <a:ext uri="{FF2B5EF4-FFF2-40B4-BE49-F238E27FC236}">
                <a16:creationId xmlns:a16="http://schemas.microsoft.com/office/drawing/2014/main" id="{AD6E3FB9-1FD1-46AF-7510-24147F12D236}"/>
              </a:ext>
            </a:extLst>
          </p:cNvPr>
          <p:cNvSpPr txBox="1">
            <a:spLocks noGrp="1"/>
          </p:cNvSpPr>
          <p:nvPr>
            <p:ph type="ftr" idx="11"/>
          </p:nvPr>
        </p:nvSpPr>
        <p:spPr>
          <a:xfrm>
            <a:off x="3301300" y="6656439"/>
            <a:ext cx="1876425" cy="201561"/>
          </a:xfrm>
          <a:prstGeom prst="rect">
            <a:avLst/>
          </a:prstGeom>
          <a:noFill/>
          <a:ln>
            <a:noFill/>
          </a:ln>
        </p:spPr>
        <p:txBody>
          <a:bodyPr spcFirstLastPara="1" wrap="square" lIns="64000" tIns="45700" rIns="91425" bIns="45700" anchor="ctr" anchorCtr="0">
            <a:noAutofit/>
          </a:bodyPr>
          <a:lstStyle/>
          <a:p>
            <a:pPr marL="0" lvl="0" indent="0" algn="l" rtl="0">
              <a:spcBef>
                <a:spcPts val="0"/>
              </a:spcBef>
              <a:spcAft>
                <a:spcPts val="0"/>
              </a:spcAft>
              <a:buNone/>
            </a:pPr>
            <a:r>
              <a:rPr lang="en-US" dirty="0"/>
              <a:t>TCS confidential</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215</Words>
  <Application>Microsoft Office PowerPoint</Application>
  <PresentationFormat>On-screen Show (4:3)</PresentationFormat>
  <Paragraphs>40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Anshu Jain</cp:lastModifiedBy>
  <cp:revision>7</cp:revision>
  <dcterms:created xsi:type="dcterms:W3CDTF">2013-01-27T09:14:16Z</dcterms:created>
  <dcterms:modified xsi:type="dcterms:W3CDTF">2026-06-27T01:02:20Z</dcterms:modified>
  <cp:category/>
</cp:coreProperties>
</file>